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E5EA8"/>
                </a:solidFill>
              </a:defRPr>
            </a:pPr>
            <a:r>
              <a:t>ZYCUS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Programme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BBCCDD"/>
                </a:solidFill>
              </a:defRPr>
            </a:pPr>
            <a:r>
              <a:t>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AABB"/>
                </a:solidFill>
              </a:defRPr>
            </a:pPr>
            <a:r>
              <a:t>Prepared for Executive Leadership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840480"/>
            <a:ext cx="822960" cy="8229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Outokumpu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3840480"/>
            <a:ext cx="82296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UniSan S2P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78899"/>
                </a:solidFill>
              </a:defRPr>
            </a:pPr>
            <a:r>
              <a:t>Confidential | 08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Cross-Project Health &amp; Naive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55555"/>
                </a:solidFill>
              </a:defRPr>
            </a:pPr>
            <a:r>
              <a:t>Snapshot: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🟡 Outokumpu S2P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417320"/>
            <a:ext cx="2011862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75564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0.37/1.00   P(on-time): 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06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🟢 UniSan S2P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2651760"/>
            <a:ext cx="212323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990088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Score: 0.04/1.00   P(on-time) DAG: 15%  |  v1: 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2F5E"/>
                </a:solidFill>
              </a:defRPr>
            </a:pPr>
            <a:r>
              <a:t>Portfolio avg score: 0.20/1.00 — 0/2 project(s) Red.  Monte Carlo P(on-time) accounts for task velocity and variance — not just % complete. See Slide 4 for model comparison.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Emerging Risks &amp; Root-Cause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🟡  Outokumpu S2P — AMBER: 54 active at-risk tasks, 60 Red. Top cluster: 28 tasks under abhilasha.s@zycus.com. 78% P(on-time).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1051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🟢  UniSan S2P — GREEN: 51 active at-risk tasks, 42 Red. Top cluster: 26 tasks under UniSan Integration Team. 5% P(on-time).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15184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22222"/>
                </a:solidFill>
              </a:defRPr>
            </a:pPr>
            <a:r>
              <a:t>ℹ️  No projects currently Red. Continue monitoring Amber items and critical-path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17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F5E"/>
                </a:solidFill>
              </a:defRPr>
            </a:pPr>
            <a:r>
              <a:t>Risk Concentration by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074920"/>
            <a:ext cx="27432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1023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74920"/>
            <a:ext cx="201168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5102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At-Risk Active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5074920"/>
            <a:ext cx="484632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51023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Top Owner / Cluster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5074920"/>
            <a:ext cx="1828800" cy="365760"/>
          </a:xfrm>
          <a:prstGeom prst="rect">
            <a:avLst/>
          </a:prstGeom>
          <a:solidFill>
            <a:srgbClr val="1A2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51023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P(on-time)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50468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Outokumpu S2P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550468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5046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28 tasks / abhilasha.s@zycus.com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550468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888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UniSan S2P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8887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588873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26 tasks / UniSan Integration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588873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22"/>
                </a:solidFill>
              </a:defRPr>
            </a:pPr>
            <a:r>
              <a:t>15% (DAG)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2F5E"/>
                </a:solidFill>
              </a:defRPr>
            </a:pPr>
            <a:r>
              <a:t>Deadline Probability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55"/>
                </a:solidFill>
              </a:defRPr>
            </a:pPr>
            <a:r>
              <a:t>Monte Carlo: 10,000 scenarios per project using historical task duration ratios (actual/planned) from completed tasks. v2 (DAG) propagates durations through predecessor graph — respects sequencing structure.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91640"/>
            <a:ext cx="1143000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Outokumpu S2P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2026-12-07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v1 (throughput): 78%  |  v2 skipped (low predecessor coverage)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AE60"/>
                </a:solidFill>
              </a:defRPr>
            </a:pPr>
            <a:r>
              <a:t>78%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103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13%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1143000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03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F5E"/>
                </a:solidFill>
              </a:defRPr>
            </a:pPr>
            <a:r>
              <a:t>UniSan S2P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444444"/>
                </a:solidFill>
              </a:defRPr>
            </a:pPr>
            <a:r>
              <a:t>Deadline: 2026-10-09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44444"/>
                </a:solidFill>
              </a:defRPr>
            </a:pPr>
            <a:r>
              <a:t>v1 (throughput): 5%  →  v2 (DAG): 15%  (+10 pp from dependency structure)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P(on time)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≤1wk)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703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55555"/>
                </a:solidFill>
              </a:defRPr>
            </a:pPr>
            <a:r>
              <a:t>P(slip 2wk+)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C0392B"/>
                </a:solidFill>
              </a:defRPr>
            </a:pPr>
            <a:r>
              <a:t>88%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Deadline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0584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Outokumpu S2P is the highest-risk project (score 0.367). P(on-time) 78% (throughput model). Deadline: 2026-12-07.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190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Critical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719072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Outokumpu S2P: 0/15 PM-flagged CP tasks are 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3230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ACCFF"/>
                </a:solidFill>
              </a:defRPr>
            </a:pPr>
            <a:r>
              <a:t>🔍 Critical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3230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UniSan S2P: 2/50 PM-flagged CP tasks are Red; graph-computed CP = 50 tasks (74% predecessor coverage).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8269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ACCFF"/>
                </a:solidFill>
              </a:defRPr>
            </a:pPr>
            <a:r>
              <a:t>Recommended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856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Outokumpu S2P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785616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Triage 54 active at-risk tasks with abhilasha.s@zycus.com; escalate any CP tasks that are Red or slipping.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439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UniSan S2P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44398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Triage 51 active at-risk tasks with UniSan Integration Team; escalate any CP tasks that are Red or slipping.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7AE60"/>
                </a:solidFill>
              </a:defRPr>
            </a:pPr>
            <a:r>
              <a:t>✅ Data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102352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t>Ensure Predecessors column is populated in MS Project exports to enable dependency-aware simulation on all projects.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A2F5E"/>
                </a:solidFill>
              </a:defRPr>
            </a:pPr>
            <a:r>
              <a:t>Appendix — Methodology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222233"/>
                </a:solidFill>
              </a:defRPr>
            </a:pPr>
            <a:r>
              <a:t>RAG Score = 0.60 × Forward Risk + 0.40 × Historical Slip. Forward Risk: fraction of critical-path active tasks that are Red (×1.0) or Amber (×0.5). Falls back to all active tasks if critical count &lt;5.</a:t>
            </a:r>
            <a:br/>
            <a:r>
              <a:t>Historical Slip: median(|variance_days|) for late completed tasks, normalised against 30-day ceiling. Variance column sign used (verified: 196/199 rows correct). Magnitude treated as unreliable for parent rows.</a:t>
            </a:r>
            <a:br/>
            <a:r>
              <a:t>ML Model top features (GBT, verified this run): total_float_days (0.5439), variance_sign_code (0.2716), pct_complete (0.1054). RAG is manually set by PMs — model learns PM judgment patterns, not a formula. Fit/interpret only — 2 projects, no holdout split.</a:t>
            </a:r>
            <a:br/>
            <a:r>
              <a:t>Monte Carlo v1: throughput rate (tasks/week) × log-normal duration-ratio distribution. MC v2 (DAG): discrete-event simulation propagating durations topologically through predecessor graph. v2 runs only when predecessor coverage ≥50%; otherwise v1 is sole forecast.</a:t>
            </a:r>
            <a:br/>
            <a:r>
              <a:t>Clustering: TF-IDF + KMeans on available fields (Area, Phase, Owner, Task Name). Sparsity-aware: fields missing in &gt;98% of rows excluded; caveat lists actual population %.</a:t>
            </a:r>
            <a:br/>
            <a:r>
              <a:t>Data confidence tiers — High: weighted null rate &lt;20%; Medium: 20–45%; Low: &gt;45%. Predecessor coverage weighted 0.4; planned_days + pct_complete 0.3 each.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