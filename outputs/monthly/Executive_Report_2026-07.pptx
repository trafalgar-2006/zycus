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F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E5EA8"/>
                </a:solidFill>
              </a:defRPr>
            </a:pPr>
            <a:r>
              <a:t>ZYCUS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Programme Health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BBCCDD"/>
                </a:solidFill>
              </a:defRPr>
            </a:pPr>
            <a:r>
              <a:t>July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834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9AABB"/>
                </a:solidFill>
              </a:defRPr>
            </a:pPr>
            <a:r>
              <a:t>Prepared for Executive Leadership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3840480"/>
            <a:ext cx="822960" cy="82296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47548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Outokumpu S2P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3840480"/>
            <a:ext cx="822960" cy="8229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47548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UniSan S2P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78899"/>
                </a:solidFill>
              </a:defRPr>
            </a:pPr>
            <a:r>
              <a:t>Confidential | 08 Jul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F5E"/>
                </a:solidFill>
              </a:defRPr>
            </a:pPr>
            <a:r>
              <a:t>Cross-Project Trend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555555"/>
                </a:solidFill>
              </a:defRPr>
            </a:pPr>
            <a:r>
              <a:t>Snapshot: July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3716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2F5E"/>
                </a:solidFill>
              </a:defRPr>
            </a:pPr>
            <a:r>
              <a:t>Outokumpu S2P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1417320"/>
            <a:ext cx="1920239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755648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44444"/>
                </a:solidFill>
              </a:defRPr>
            </a:pPr>
            <a:r>
              <a:t>Score: 0.37  |  P(on-time): 77%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60604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2F5E"/>
                </a:solidFill>
              </a:defRPr>
            </a:pPr>
            <a:r>
              <a:t>UniSan S2P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2651760"/>
            <a:ext cx="0" cy="3200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990088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44444"/>
                </a:solidFill>
              </a:defRPr>
            </a:pPr>
            <a:r>
              <a:t>Score: 0.04  |  P(on-time): 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7607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1A2F5E"/>
                </a:solidFill>
              </a:defRPr>
            </a:pPr>
            <a:r>
              <a:t>Portfolio avg score: 0.20/1.00 — 0 of 2 projects currently Red. Both projects carry high At-Risk designation with critical-path slippage.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F5E"/>
                </a:solidFill>
              </a:defRPr>
            </a:pPr>
            <a:r>
              <a:t>Emerging Risks &amp; Root-Cause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22222"/>
                </a:solidFill>
              </a:defRPr>
            </a:pPr>
            <a:r>
              <a:t>🔴  UniSan S2P — RED status: 44% complete at Training Phase I; 175 tasks Not Started, 35 in parallel. Schedule variance -8 working days at project level.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22222"/>
                </a:solidFill>
              </a:defRPr>
            </a:pPr>
            <a:r>
              <a:t>🟡  Outokumpu S2P — AMBER watch: Phase 1 S2C slipping 6 working days. iSupplier deployment 32 days behind. 2 tasks on hold (D&amp;B creds, supplier notifications).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517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22222"/>
                </a:solidFill>
              </a:defRPr>
            </a:pPr>
            <a:r>
              <a:t>⚠️  Common pattern across both projects: at-risk tasks cluster around integration &amp; data configuration activities — a systemic readiness risk.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22222"/>
                </a:solidFill>
              </a:defRPr>
            </a:pPr>
            <a:r>
              <a:t>⚠️  Data dependency risk: OTK sample data not yet provided (due Jul 10). JDE mapping pending. Both items are on the critical path.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2F5E"/>
                </a:solidFill>
              </a:defRPr>
            </a:pPr>
            <a:r>
              <a:t>Risk Concentration by Project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074920"/>
            <a:ext cx="2743200" cy="365760"/>
          </a:xfrm>
          <a:prstGeom prst="rect">
            <a:avLst/>
          </a:prstGeom>
          <a:solidFill>
            <a:srgbClr val="1A2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5102352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Project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5074920"/>
            <a:ext cx="2286000" cy="365760"/>
          </a:xfrm>
          <a:prstGeom prst="rect">
            <a:avLst/>
          </a:prstGeom>
          <a:solidFill>
            <a:srgbClr val="1A2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46120" y="510235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Active Risk Tasks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5074920"/>
            <a:ext cx="4114800" cy="365760"/>
          </a:xfrm>
          <a:prstGeom prst="rect">
            <a:avLst/>
          </a:prstGeom>
          <a:solidFill>
            <a:srgbClr val="1A2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23559" y="510235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Top Risk Area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84080" y="5074920"/>
            <a:ext cx="1828800" cy="365760"/>
          </a:xfrm>
          <a:prstGeom prst="rect">
            <a:avLst/>
          </a:prstGeom>
          <a:solidFill>
            <a:srgbClr val="1A2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29800" y="510235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Deadline P(on-time)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F5E"/>
                </a:solidFill>
              </a:defRPr>
            </a:pPr>
            <a:r>
              <a:t>Deadline Probability Forecast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444455"/>
                </a:solidFill>
              </a:defRPr>
            </a:pPr>
            <a:r>
              <a:t>Monte Carlo simulation: 10,000 scenarios per project using historical task duration ratios (actual/planned) from completed tasks. Limitation: single-snapshot data — no weekly history. Treat as directional.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828800"/>
            <a:ext cx="11430000" cy="1463040"/>
          </a:xfrm>
          <a:prstGeom prst="rect">
            <a:avLst/>
          </a:prstGeom>
          <a:solidFill>
            <a:srgbClr val="FFFFFF"/>
          </a:solidFill>
          <a:ln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A2F5E"/>
                </a:solidFill>
              </a:defRPr>
            </a:pPr>
            <a:r>
              <a:t>Outokumpu S2P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444444"/>
                </a:solidFill>
              </a:defRPr>
            </a:pPr>
            <a:r>
              <a:t>Deadline: Dec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9202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55555"/>
                </a:solidFill>
              </a:defRPr>
            </a:pPr>
            <a:r>
              <a:t>P(on time)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28600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7AE60"/>
                </a:solidFill>
              </a:defRPr>
            </a:pPr>
            <a:r>
              <a:t>~62%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9202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55555"/>
                </a:solidFill>
              </a:defRPr>
            </a:pPr>
            <a:r>
              <a:t>P(slip ≤1wk)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28600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67E22"/>
                </a:solidFill>
              </a:defRPr>
            </a:pPr>
            <a:r>
              <a:t>~15%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19202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55555"/>
                </a:solidFill>
              </a:defRPr>
            </a:pPr>
            <a:r>
              <a:t>P(slip 2wk+)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228600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67E22"/>
                </a:solidFill>
              </a:defRPr>
            </a:pPr>
            <a:r>
              <a:t>~11%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749039"/>
            <a:ext cx="11430000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840479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A2F5E"/>
                </a:solidFill>
              </a:defRPr>
            </a:pPr>
            <a:r>
              <a:t>UniSan S2P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29767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444444"/>
                </a:solidFill>
              </a:defRPr>
            </a:pPr>
            <a:r>
              <a:t>Deadline: Oct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840479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55555"/>
                </a:solidFill>
              </a:defRPr>
            </a:pPr>
            <a:r>
              <a:t>P(on time)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2062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C0392B"/>
                </a:solidFill>
              </a:defRPr>
            </a:pPr>
            <a:r>
              <a:t>~34%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840479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55555"/>
                </a:solidFill>
              </a:defRPr>
            </a:pPr>
            <a:r>
              <a:t>P(slip ≤1wk)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42062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67E22"/>
                </a:solidFill>
              </a:defRPr>
            </a:pPr>
            <a:r>
              <a:t>~22%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3840479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55555"/>
                </a:solidFill>
              </a:defRPr>
            </a:pPr>
            <a:r>
              <a:t>P(slip 2wk+)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42062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C0392B"/>
                </a:solidFill>
              </a:defRPr>
            </a:pPr>
            <a:r>
              <a:t>~31%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F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Key Findings &amp;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AACCFF"/>
                </a:solidFill>
              </a:defRPr>
            </a:pPr>
            <a:r>
              <a:t>🔍 Finding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05840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FFFFF"/>
                </a:solidFill>
              </a:defRPr>
            </a:pPr>
            <a:r>
              <a:t>Integration &amp; data-prep activities are the dominant risk cluster across both projects. These tasks share owners and are on the critical path — a single resource bottleneck.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AACCFF"/>
                </a:solidFill>
              </a:defRPr>
            </a:pPr>
            <a:r>
              <a:t>🔍 Finding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691640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FFFFF"/>
                </a:solidFill>
              </a:defRPr>
            </a:pPr>
            <a:r>
              <a:t>UniSan is 10 percentage points behind expected completion for this date (44% actual vs ~54% expected). The gap is widening.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77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AACCFF"/>
                </a:solidFill>
              </a:defRPr>
            </a:pPr>
            <a:r>
              <a:t>🔍 Finding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2377440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FFFFF"/>
                </a:solidFill>
              </a:defRPr>
            </a:pPr>
            <a:r>
              <a:t>Outokumpu's Phase 1 slippage of 6 working days has not yet impacted the Dec 2026 overall deadline — but the iSupplier deployment at -32 days is the key watch item.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246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AACCFF"/>
                </a:solidFill>
              </a:defRPr>
            </a:pPr>
            <a:r>
              <a:t>Recommended 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490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7AE60"/>
                </a:solidFill>
              </a:defRPr>
            </a:pPr>
            <a:r>
              <a:t>✅ Action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3749040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FFFFF"/>
                </a:solidFill>
              </a:defRPr>
            </a:pPr>
            <a:r>
              <a:t>Convene a joint risk review for integration tasks across both projects this week.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40740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7AE60"/>
                </a:solidFill>
              </a:defRPr>
            </a:pPr>
            <a:r>
              <a:t>✅ Action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4407408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FFFFF"/>
                </a:solidFill>
              </a:defRPr>
            </a:pPr>
            <a:r>
              <a:t>Escalate UniSan's Not-Started backlog to PM and client; confirm whether parallel workstreams can be activated.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065776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7AE60"/>
                </a:solidFill>
              </a:defRPr>
            </a:pPr>
            <a:r>
              <a:t>✅ Action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5065776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FFFFF"/>
                </a:solidFill>
              </a:defRPr>
            </a:pPr>
            <a:r>
              <a:t>Chase OTK data sample (due Jul 10) and JDE mapping — both are on the critical path.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A2F5E"/>
                </a:solidFill>
              </a:defRPr>
            </a:pPr>
            <a:r>
              <a:t>Appendix — Methodology &amp; Data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222233"/>
                </a:solidFill>
              </a:defRPr>
            </a:pPr>
            <a:r>
              <a:t>RAG Score = 0.60 x Forward Risk + 0.40 x Historical Slip</a:t>
            </a:r>
            <a:br/>
            <a:r>
              <a:t>Forward Risk: fraction of critical-path active tasks that are Red (weight 1.0) or Amber (0.5). Falls back to all active tasks if critical count &lt; 5.</a:t>
            </a:r>
            <a:br/>
            <a:r>
              <a:t>Historical Slip: median(variance_days.abs()) for late completed critical tasks, normalised against 30-day ceiling. Uses Variance column sign (verified reliable: 196/199 rows confirmed) + magnitude. Note: actual_minus_planned was initially used here but is wrong for slip — it measures duration efficiency (elapsed vs planned), not lateness vs Baseline Finish date. Reverted.</a:t>
            </a:r>
            <a:br/>
            <a:r>
              <a:t>ML Model: GradientBoostingClassifier. Feature importance (verified 2026-07-08): total_float_days (0.54) &gt; variance_sign_code (0.27) &gt; pct_complete (0.11). RAG is manually set by PMs — model learns PM judgment patterns, not a formula. FIT/INTERPRET ONLY on 2-project data, no holdout validation.</a:t>
            </a:r>
            <a:br/>
            <a:r>
              <a:t>Monte Carlo: 10,000 simulations. Uses throughput rate (tasks/week from End Date history) to estimate remaining calendar time — avoids serial-sum overcount from parallel team execution. Duration ratio (log-normal) applied as pace variance multiplier. Stability check flags acceleration/deceleration &gt; 2x in caveat.</a:t>
            </a:r>
            <a:br/>
            <a:r>
              <a:t>Column aliases: Project B (UniSan) uses 'Schedule Health' instead of 'RAG'; both encode Red/Yellow/Green task health. Variance2 column promoted over project-level Variance stub.</a:t>
            </a:r>
            <a:br/>
            <a:r>
              <a:t>Clustering: TF-IDF + KMeans on Area/Phase/Owner metadata. Comment clustering skipped (sparse: 10 rows S2P, 0 rows UniSan).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